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/>
          <p:cNvSpPr/>
          <p:nvPr/>
        </p:nvSpPr>
        <p:spPr>
          <a:xfrm>
            <a:off x="1645920" y="1051560"/>
            <a:ext cx="58521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Card border"/>
          <p:cNvSpPr/>
          <p:nvPr/>
        </p:nvSpPr>
        <p:spPr>
          <a:xfrm>
            <a:off x="1737360" y="1143000"/>
            <a:ext cx="5669280" cy="2743200"/>
          </a:xfrm>
          <a:prstGeom prst="rect">
            <a:avLst/>
          </a:prstGeom>
          <a:ln w="19050">
            <a:solidFill>
              <a:srgbClr val="8A9A3B"/>
            </a:solidFill>
            <a:prstDash val="solid"/>
          </a:ln>
        </p:spPr>
      </p:sp>
      <p:sp>
        <p:nvSpPr>
          <p:cNvPr id="4" name="Band left"/>
          <p:cNvSpPr/>
          <p:nvPr/>
        </p:nvSpPr>
        <p:spPr>
          <a:xfrm>
            <a:off x="0" y="2560320"/>
            <a:ext cx="1856232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5" name="Band left cap"/>
          <p:cNvSpPr/>
          <p:nvPr/>
        </p:nvSpPr>
        <p:spPr>
          <a:xfrm>
            <a:off x="1856232" y="253288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sp>
        <p:nvSpPr>
          <p:cNvPr id="6" name="Band right"/>
          <p:cNvSpPr/>
          <p:nvPr/>
        </p:nvSpPr>
        <p:spPr>
          <a:xfrm>
            <a:off x="7516368" y="2560320"/>
            <a:ext cx="1627632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7" name="Band right cap"/>
          <p:cNvSpPr/>
          <p:nvPr/>
        </p:nvSpPr>
        <p:spPr>
          <a:xfrm>
            <a:off x="7479792" y="253288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pic>
        <p:nvPicPr>
          <p:cNvPr id="8" name="Image 0" descr="SIMATS Engineering and SIMATS log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9614"/>
          </a:xfrm>
          <a:prstGeom prst="rect">
            <a:avLst/>
          </a:prstGeom>
        </p:spPr>
      </p:pic>
      <p:sp>
        <p:nvSpPr>
          <p:cNvPr id="9" name="Title"/>
          <p:cNvSpPr txBox="1"/>
          <p:nvPr/>
        </p:nvSpPr>
        <p:spPr>
          <a:xfrm>
            <a:off x="1874520" y="11887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Tourism Intelligence and Visitor Analytics Platform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Destination Demand Mining and Spatial-Web Analytics</a:t>
            </a:r>
            <a:endParaRPr lang="en-US" sz="2400" dirty="0"/>
          </a:p>
        </p:txBody>
      </p:sp>
      <p:sp>
        <p:nvSpPr>
          <p:cNvPr id="10" name="Divider"/>
          <p:cNvSpPr/>
          <p:nvPr/>
        </p:nvSpPr>
        <p:spPr>
          <a:xfrm>
            <a:off x="1965960" y="2743200"/>
            <a:ext cx="5212080" cy="0"/>
          </a:xfrm>
          <a:prstGeom prst="line">
            <a:avLst/>
          </a:prstGeom>
          <a:noFill/>
          <a:ln w="15875">
            <a:solidFill>
              <a:srgbClr val="8A9A3B"/>
            </a:solidFill>
            <a:prstDash val="solid"/>
          </a:ln>
        </p:spPr>
      </p:sp>
      <p:sp>
        <p:nvSpPr>
          <p:cNvPr id="11" name="Course"/>
          <p:cNvSpPr txBox="1"/>
          <p:nvPr/>
        </p:nvSpPr>
        <p:spPr>
          <a:xfrm>
            <a:off x="1874520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Warehousing and Data Mining (DWDM)</a:t>
            </a:r>
            <a:endParaRPr lang="en-US" sz="1800" dirty="0"/>
          </a:p>
        </p:txBody>
      </p:sp>
      <p:sp>
        <p:nvSpPr>
          <p:cNvPr id="12" name="Faculty"/>
          <p:cNvSpPr txBox="1"/>
          <p:nvPr/>
        </p:nvSpPr>
        <p:spPr>
          <a:xfrm>
            <a:off x="411480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Renuga S</a:t>
            </a:r>
            <a:endParaRPr lang="en-US" sz="1500" dirty="0"/>
          </a:p>
        </p:txBody>
      </p:sp>
      <p:sp>
        <p:nvSpPr>
          <p:cNvPr id="13" name="Students"/>
          <p:cNvSpPr txBox="1"/>
          <p:nvPr/>
        </p:nvSpPr>
        <p:spPr>
          <a:xfrm>
            <a:off x="6492240" y="40690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Ramprasath J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Leo Leenas 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Thiyagesh RR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Deepak 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/>
          <p:cNvSpPr/>
          <p:nvPr/>
        </p:nvSpPr>
        <p:spPr>
          <a:xfrm>
            <a:off x="822960" y="822960"/>
            <a:ext cx="749808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Card border"/>
          <p:cNvSpPr/>
          <p:nvPr/>
        </p:nvSpPr>
        <p:spPr>
          <a:xfrm>
            <a:off x="914400" y="914400"/>
            <a:ext cx="7315200" cy="3794760"/>
          </a:xfrm>
          <a:prstGeom prst="rect">
            <a:avLst/>
          </a:prstGeom>
          <a:ln w="19050">
            <a:solidFill>
              <a:srgbClr val="8A9A3B"/>
            </a:solidFill>
            <a:prstDash val="solid"/>
          </a:ln>
        </p:spPr>
      </p:sp>
      <p:sp>
        <p:nvSpPr>
          <p:cNvPr id="4" name="Band left"/>
          <p:cNvSpPr/>
          <p:nvPr/>
        </p:nvSpPr>
        <p:spPr>
          <a:xfrm>
            <a:off x="0" y="2697480"/>
            <a:ext cx="1005840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5" name="Band left cap"/>
          <p:cNvSpPr/>
          <p:nvPr/>
        </p:nvSpPr>
        <p:spPr>
          <a:xfrm>
            <a:off x="1005840" y="267004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sp>
        <p:nvSpPr>
          <p:cNvPr id="6" name="Band right"/>
          <p:cNvSpPr/>
          <p:nvPr/>
        </p:nvSpPr>
        <p:spPr>
          <a:xfrm>
            <a:off x="8138160" y="2697480"/>
            <a:ext cx="1005840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7" name="Band right cap"/>
          <p:cNvSpPr/>
          <p:nvPr/>
        </p:nvSpPr>
        <p:spPr>
          <a:xfrm>
            <a:off x="8101584" y="267004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pic>
        <p:nvPicPr>
          <p:cNvPr id="8" name="Image 0" descr="SIMATS em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502920" cy="448056"/>
          </a:xfrm>
          <a:prstGeom prst="rect">
            <a:avLst/>
          </a:prstGeom>
        </p:spPr>
      </p:pic>
      <p:pic>
        <p:nvPicPr>
          <p:cNvPr id="9" name="Image 1" descr="SIMATS embl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2880"/>
            <a:ext cx="502920" cy="448056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800" dirty="0"/>
          </a:p>
        </p:txBody>
      </p:sp>
      <p:sp>
        <p:nvSpPr>
          <p:cNvPr id="11" name="Divider"/>
          <p:cNvSpPr/>
          <p:nvPr/>
        </p:nvSpPr>
        <p:spPr>
          <a:xfrm>
            <a:off x="1280160" y="1508760"/>
            <a:ext cx="6583680" cy="0"/>
          </a:xfrm>
          <a:prstGeom prst="line">
            <a:avLst/>
          </a:prstGeom>
          <a:noFill/>
          <a:ln w="15875">
            <a:solidFill>
              <a:srgbClr val="8A9A3B"/>
            </a:solidFill>
            <a:prstDash val="solid"/>
          </a:ln>
        </p:spPr>
      </p:sp>
      <p:sp>
        <p:nvSpPr>
          <p:cNvPr id="12" name="Abstract bullets"/>
          <p:cNvSpPr txBox="1"/>
          <p:nvPr/>
        </p:nvSpPr>
        <p:spPr>
          <a:xfrm>
            <a:off x="1234440" y="1691640"/>
            <a:ext cx="6675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Tourism data on visitors, destinations and online search behaviour is large and scattered.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platform collects this data and stores it in a structured PostgreSQL database.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mining uncovers destination demand patterns and tourism trends.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 clustering groups destinations by spatial and visitor characteristics.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interactive Power BI dashboard presents visitor insights for tourism planners.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/>
          <p:cNvSpPr/>
          <p:nvPr/>
        </p:nvSpPr>
        <p:spPr>
          <a:xfrm>
            <a:off x="822960" y="822960"/>
            <a:ext cx="749808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Card border"/>
          <p:cNvSpPr/>
          <p:nvPr/>
        </p:nvSpPr>
        <p:spPr>
          <a:xfrm>
            <a:off x="914400" y="914400"/>
            <a:ext cx="7315200" cy="3794760"/>
          </a:xfrm>
          <a:prstGeom prst="rect">
            <a:avLst/>
          </a:prstGeom>
          <a:ln w="19050">
            <a:solidFill>
              <a:srgbClr val="8A9A3B"/>
            </a:solidFill>
            <a:prstDash val="solid"/>
          </a:ln>
        </p:spPr>
      </p:sp>
      <p:sp>
        <p:nvSpPr>
          <p:cNvPr id="4" name="Band left"/>
          <p:cNvSpPr/>
          <p:nvPr/>
        </p:nvSpPr>
        <p:spPr>
          <a:xfrm>
            <a:off x="0" y="2697480"/>
            <a:ext cx="1005840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5" name="Band left cap"/>
          <p:cNvSpPr/>
          <p:nvPr/>
        </p:nvSpPr>
        <p:spPr>
          <a:xfrm>
            <a:off x="1005840" y="267004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sp>
        <p:nvSpPr>
          <p:cNvPr id="6" name="Band right"/>
          <p:cNvSpPr/>
          <p:nvPr/>
        </p:nvSpPr>
        <p:spPr>
          <a:xfrm>
            <a:off x="8138160" y="2697480"/>
            <a:ext cx="1005840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7" name="Band right cap"/>
          <p:cNvSpPr/>
          <p:nvPr/>
        </p:nvSpPr>
        <p:spPr>
          <a:xfrm>
            <a:off x="8101584" y="267004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pic>
        <p:nvPicPr>
          <p:cNvPr id="8" name="Image 0" descr="SIMATS em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502920" cy="448056"/>
          </a:xfrm>
          <a:prstGeom prst="rect">
            <a:avLst/>
          </a:prstGeom>
        </p:spPr>
      </p:pic>
      <p:pic>
        <p:nvPicPr>
          <p:cNvPr id="9" name="Image 1" descr="SIMATS embl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2880"/>
            <a:ext cx="502920" cy="448056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11" name="Divider"/>
          <p:cNvSpPr/>
          <p:nvPr/>
        </p:nvSpPr>
        <p:spPr>
          <a:xfrm>
            <a:off x="1280160" y="1508760"/>
            <a:ext cx="6583680" cy="0"/>
          </a:xfrm>
          <a:prstGeom prst="line">
            <a:avLst/>
          </a:prstGeom>
          <a:noFill/>
          <a:ln w="15875">
            <a:solidFill>
              <a:srgbClr val="8A9A3B"/>
            </a:solidFill>
            <a:prstDash val="solid"/>
          </a:ln>
        </p:spPr>
      </p:sp>
      <p:sp>
        <p:nvSpPr>
          <p:cNvPr id="12" name="Introduction bullets"/>
          <p:cNvSpPr txBox="1"/>
          <p:nvPr/>
        </p:nvSpPr>
        <p:spPr>
          <a:xfrm>
            <a:off x="1234440" y="1691640"/>
            <a:ext cx="6675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Tourism is a data-rich industry, yet visitor, destination and web-search data are often fragmented across many sources.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warehousing integrates this data into one structured repository suited for analysis and reporting.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mining techniques reveal hidden patterns in visitor behaviour and destination demand.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Spatial and web analytics link where tourists go with what they search for online.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platform combines PostgreSQL, web mining, K-Means clustering and Power BI to support smarter tourism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/>
          <p:cNvSpPr/>
          <p:nvPr/>
        </p:nvSpPr>
        <p:spPr>
          <a:xfrm>
            <a:off x="822960" y="822960"/>
            <a:ext cx="749808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Card border"/>
          <p:cNvSpPr/>
          <p:nvPr/>
        </p:nvSpPr>
        <p:spPr>
          <a:xfrm>
            <a:off x="914400" y="914400"/>
            <a:ext cx="7315200" cy="3794760"/>
          </a:xfrm>
          <a:prstGeom prst="rect">
            <a:avLst/>
          </a:prstGeom>
          <a:ln w="19050">
            <a:solidFill>
              <a:srgbClr val="8A9A3B"/>
            </a:solidFill>
            <a:prstDash val="solid"/>
          </a:ln>
        </p:spPr>
      </p:sp>
      <p:sp>
        <p:nvSpPr>
          <p:cNvPr id="4" name="Band left"/>
          <p:cNvSpPr/>
          <p:nvPr/>
        </p:nvSpPr>
        <p:spPr>
          <a:xfrm>
            <a:off x="0" y="2697480"/>
            <a:ext cx="1005840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5" name="Band left cap"/>
          <p:cNvSpPr/>
          <p:nvPr/>
        </p:nvSpPr>
        <p:spPr>
          <a:xfrm>
            <a:off x="1005840" y="267004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sp>
        <p:nvSpPr>
          <p:cNvPr id="6" name="Band right"/>
          <p:cNvSpPr/>
          <p:nvPr/>
        </p:nvSpPr>
        <p:spPr>
          <a:xfrm>
            <a:off x="8138160" y="2697480"/>
            <a:ext cx="1005840" cy="457200"/>
          </a:xfrm>
          <a:prstGeom prst="rect">
            <a:avLst/>
          </a:prstGeom>
          <a:solidFill>
            <a:srgbClr val="3A3029"/>
          </a:solidFill>
          <a:ln w="12700">
            <a:solidFill>
              <a:srgbClr val="3A3029"/>
            </a:solidFill>
            <a:prstDash val="solid"/>
          </a:ln>
        </p:spPr>
      </p:sp>
      <p:sp>
        <p:nvSpPr>
          <p:cNvPr id="7" name="Band right cap"/>
          <p:cNvSpPr/>
          <p:nvPr/>
        </p:nvSpPr>
        <p:spPr>
          <a:xfrm>
            <a:off x="8101584" y="2670048"/>
            <a:ext cx="36576" cy="512064"/>
          </a:xfrm>
          <a:prstGeom prst="rect">
            <a:avLst/>
          </a:prstGeom>
          <a:solidFill>
            <a:srgbClr val="241D19"/>
          </a:solidFill>
          <a:ln w="12700">
            <a:solidFill>
              <a:srgbClr val="241D19"/>
            </a:solidFill>
            <a:prstDash val="solid"/>
          </a:ln>
        </p:spPr>
      </p:sp>
      <p:pic>
        <p:nvPicPr>
          <p:cNvPr id="8" name="Image 0" descr="SIMATS em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502920" cy="448056"/>
          </a:xfrm>
          <a:prstGeom prst="rect">
            <a:avLst/>
          </a:prstGeom>
        </p:spPr>
      </p:pic>
      <p:pic>
        <p:nvPicPr>
          <p:cNvPr id="9" name="Image 1" descr="SIMATS embl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2880"/>
            <a:ext cx="502920" cy="448056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Explanation</a:t>
            </a:r>
            <a:endParaRPr lang="en-US" sz="2800" dirty="0"/>
          </a:p>
        </p:txBody>
      </p:sp>
      <p:sp>
        <p:nvSpPr>
          <p:cNvPr id="11" name="Divider"/>
          <p:cNvSpPr/>
          <p:nvPr/>
        </p:nvSpPr>
        <p:spPr>
          <a:xfrm>
            <a:off x="1280160" y="1508760"/>
            <a:ext cx="6583680" cy="0"/>
          </a:xfrm>
          <a:prstGeom prst="line">
            <a:avLst/>
          </a:prstGeom>
          <a:noFill/>
          <a:ln w="15875">
            <a:solidFill>
              <a:srgbClr val="8A9A3B"/>
            </a:solidFill>
            <a:prstDash val="solid"/>
          </a:ln>
        </p:spPr>
      </p:sp>
      <p:sp>
        <p:nvSpPr>
          <p:cNvPr id="12" name="Modules"/>
          <p:cNvSpPr txBox="1"/>
          <p:nvPr/>
        </p:nvSpPr>
        <p:spPr>
          <a:xfrm>
            <a:off x="1234440" y="1645920"/>
            <a:ext cx="6675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Tourism Data Collection and PostgreSQL Database Management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Collects visitor and destination data and stores it in a PostgreSQL database.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Web Mining and Tourism Demand Pattern Analysis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Mines web data to find trends and patterns in destination demand.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K-Means Clustering and Spatial Tourism Analytics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Groups destinations by location and visitor characteristics using K-Means.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Interactive Tourism Dashboard and Visitor Insights Using Power BI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Presents results as interactive visuals for tourism decision-making.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Tourism Intelligence and Visitor Analytics Platform</dc:title>
  <dc:subject>PptxGenJS Presentation</dc:subject>
  <dc:creator>PptxGenJS</dc:creator>
  <cp:lastModifiedBy>PptxGenJS</cp:lastModifiedBy>
  <cp:revision>1</cp:revision>
  <dcterms:created xsi:type="dcterms:W3CDTF">2026-10-16T07:10:21Z</dcterms:created>
  <dcterms:modified xsi:type="dcterms:W3CDTF">2026-10-16T07:10:21Z</dcterms:modified>
</cp:coreProperties>
</file>